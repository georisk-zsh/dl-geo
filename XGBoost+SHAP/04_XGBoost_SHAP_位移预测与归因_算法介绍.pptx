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 (mm/day)</c:v>
                </c:pt>
              </c:strCache>
            </c:strRef>
          </c:tx>
          <c:spPr>
            <a:solidFill>
              <a:srgbClr val="6B748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2E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4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4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163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4425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4425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从零GBM(200棵)</c:v>
                  </c:pt>
                  <c:pt idx="1">
                    <c:v>persistence(明日=今日)</c:v>
                  </c:pt>
                  <c:pt idx="2">
                    <c:v>XGBoost(默认)</c:v>
                  </c:pt>
                  <c:pt idx="3">
                    <c:v>XGBoost(调参后)</c:v>
                  </c:pt>
                  <c:pt idx="4">
                    <c:v>线性回归(同特征)</c:v>
                  </c:pt>
                  <c:pt idx="5">
                    <c:v>岭回归(α=1)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0.3643</c:v>
                </c:pt>
                <c:pt idx="1">
                  <c:v>0.3559</c:v>
                </c:pt>
                <c:pt idx="2">
                  <c:v>0.3083</c:v>
                </c:pt>
                <c:pt idx="3">
                  <c:v>0.2947</c:v>
                </c:pt>
                <c:pt idx="4">
                  <c:v>0.2732</c:v>
                </c:pt>
                <c:pt idx="5">
                  <c:v>0.2708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2E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</c:scaling>
        <c:delete val="0"/>
        <c:axPos val="b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 (mm/day)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2E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dlevel</c:v>
                  </c:pt>
                  <c:pt idx="1">
                    <c:v>rate_mean7</c:v>
                  </c:pt>
                  <c:pt idx="2">
                    <c:v>disp</c:v>
                  </c:pt>
                  <c:pt idx="3">
                    <c:v>rate_mean3</c:v>
                  </c:pt>
                  <c:pt idx="4">
                    <c:v>eff_rain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0.0411</c:v>
                </c:pt>
                <c:pt idx="1">
                  <c:v>0.0674</c:v>
                </c:pt>
                <c:pt idx="2">
                  <c:v>0.0895</c:v>
                </c:pt>
                <c:pt idx="3">
                  <c:v>0.1245</c:v>
                </c:pt>
                <c:pt idx="4">
                  <c:v>0.1642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42E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"/>
        </c:scaling>
        <c:delete val="0"/>
        <c:axPos val="b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73152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A3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 · 算法系列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XGBoost + SHAP 可解释位移预测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表格式强基线 · TreeSHAP 精确归因 · 物理单调约束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因果特征工程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五特征族 24 特征 · 全部 ≤τ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35808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35808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从零实现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035808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二阶泰勒 + CART · 四项暴力验证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31536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31536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两级口径评估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31536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速率 mm/day + 累积重构 mm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27264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27264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SHAP 精确归因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827264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TreeSHAP · 加速期 Top-5 报告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配套 Notebook 与全部结果均为 dl-env 内核实测输出，可直接复现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算法系列 · 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表格式强基线 + 可解释归因：精度之外的另一种价值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2720340" cy="77724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单点时序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LSTM/GRU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314700" y="1463040"/>
            <a:ext cx="2720340" cy="77724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多点时空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GCN 监测网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26480" y="1463040"/>
            <a:ext cx="2720340" cy="77724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混合架构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CNN+Transformer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38260" y="1463040"/>
            <a:ext cx="2720340" cy="77724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基线+归因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XGBoost+SHAP（本篇）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待加：⑤ 分位数/Conformal 风险区间   ⑥ PINN   ⑦ 神经算子   ⑧ 时序基础模型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6583680" cy="2331720"/>
          </a:xfrm>
          <a:prstGeom prst="roundRect">
            <a:avLst>
              <a:gd name="adj" fmla="val 235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632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本篇要解决的问题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612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场景：与 ①③ 同一个测点、同一套划分，换成“特征工程 + 梯度提升树”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领域知识显式化：滞后/有效降雨/骤降幅度写成特征，树在其上找非线性与交互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SHAP 把每次预测按 Shapley 公理精确分摊到特征 —— 这次加速主要因为什么？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落位：L4 预警升级自动输出“主要驱动因子 Top-5”归因报告（融合方案 §7）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60920" y="2880360"/>
            <a:ext cx="42976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0" y="3063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为什么树模型 + SHAP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89520" y="3429000"/>
            <a:ext cx="3886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表格数据默认强基线：非线性 + 交互自动学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TreeSHAP 精确分解，不是近似解释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训练秒级、特征可插拔、单调约束易加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精度略逊 ①③，价值在归因 / 约束 / 效率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数据来源：04_XGBoost_SHAP_位移预测与归因_实现与调参.ipynb（dl-env 实测输出）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算法介绍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演示数据 · 特征工程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把领域知识写成特征：五族 24 个全因果特征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120640" cy="4114800"/>
          </a:xfrm>
          <a:prstGeom prst="roundRect">
            <a:avLst>
              <a:gd name="adj" fmla="val 1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数据（与 ①③ 同机制同划分）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时间范围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96596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2016-01-01 起 · 2190 天（6 年）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414016"/>
            <a:ext cx="45720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87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965960" y="2587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降雨 / 库水位 / 温度 · 日尺度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990088"/>
            <a:ext cx="45720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638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65960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明日速率 rate(τ+1) = 差分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45720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39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划分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965960" y="3739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按目标时刻 70/15/15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142232"/>
            <a:ext cx="45720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965960" y="4315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2159（前 31 天被滚动特征占用）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718304"/>
            <a:ext cx="457200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892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噪声底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965960" y="4892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σ ≈ 0.15 mm/day（RMSE 下限）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897880" y="1417320"/>
            <a:ext cx="576072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16002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五特征族（真实数据可加 InSAR 面域族）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26480" y="2011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自回归 ×10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2011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rate_lag1/2/3/7/14、accel、滚动均值/方差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89520" y="2313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位移惯性：蠕变缓变、加速持续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6480" y="27066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水平 ×1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89520" y="27066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disp（累积位移）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589520" y="3008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应力状态 / 损伤累积代理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26480" y="340156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降雨 ×6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589520" y="3401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当日、有效降雨(τ=12 核)、7/30 日累计、3 日最大雨强、干期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58952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强度 / 历时 / 滞后 / 间歇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26480" y="40965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库水位 ×4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589520" y="4096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水位、日变幅、7 日变幅、累计骤降 drawdown7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589520" y="43982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只对“骤降”响应的渗透力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26480" y="479145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环境·季节 ×3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7914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温度、年内 sin/cos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589520" y="5093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冻融与年周期背景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58704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因果红线：每行特征只用 ≤τ 的观测，预测 rate(τ+1) —— 部署时今日观测完成后出明日预警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数据来源：04_XGBoost_SHAP_位移预测与归因_实现与调参.ipynb（dl-env 实测输出）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算法介绍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二阶泰勒目标：梯度 + 曲率驱动的残差拟合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Obj = Σ[ g_i·f(x_i) + 1/2·h_i·f²(x_i) ] + Ω(f)        g_i = ŷ−y（残差）, h_i = 1（平方损失）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w* = -G/(H+λ)                Gain = 1/2·[G_L²/(H_L+λ) + G_R²/(H_R+λ) - G²/(H+λ)] - γ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3246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λ（reg_lambda）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361188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L2 压叶子：样本少的叶被压小 —— 对平方损失 H=叶内样本数，min_child_weight 即最小叶样本数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9392" y="306324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246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γ（分裂门槛）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361188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增益 &gt; γ 才分裂：天然预剪枝；增益公式就是“父目标 − 两子目标”的目标下降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55864" y="306324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3246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η（shrinkage）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57032" y="361188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每棵树输出乘 η 再累加，留空间给后面的树 —— 小步多轮，配早停自动定轮数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57607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平方损失的 GBDT = 用回归树逐步拟合残差；换损失（如 §9.3 分位数）只改 (g,h)，框架不变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数据来源：04_XGBoost_SHAP_位移预测与归因_实现与调参.ipynb（dl-env 实测输出）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算法介绍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从零实现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NumPy 复现 XGBoost 核心 + 四项暴力验证（全绿）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树模型没有反向传播，但每个公式都能被暴力验证 —— 这是树版的“梯度检查”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956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解析梯度 vs 数值微分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4088" y="23042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 = ŷ−y 对损失做中心差分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86200" y="195681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相对误差 2.2e-06 ✅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9568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最优叶权重 w*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19088" y="23042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闭式解 vs 4 万点网格搜索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0" y="195681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 = 0.0 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2004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3284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分裂增益公式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36758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暴力枚举全部 (特征,阈值) 直算目标差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86200" y="332841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2.931886 = 2.931886 ✅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5440680" cy="1188720"/>
          </a:xfrm>
          <a:prstGeom prst="roundRect">
            <a:avLst>
              <a:gd name="adj" fmla="val 4615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3284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训练损失单调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19088" y="36758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 轮 boost 逐轮目标不升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0" y="332841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0.484 → 0.186 ✅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86460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官方对齐（同超参：exact · 200 棵 · depth3 · η0.1 · λ1 · base=均值）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51937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从零 1.4s 跑完 200 棵；两条学习曲线几乎重合 —— 后 50 轮 test RMSE 平均差 0.0033 mm/day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0" y="4846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0.0033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778240" y="5349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mm/day 平均差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数据来源：04_XGBoost_SHAP_位移预测与归因_实现与调参.ipynb（dl-env 实测输出）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算法介绍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精度检验 · 速率口径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基线对比：一次诚实的“树模型边界”演示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08760"/>
          <a:ext cx="6492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4406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同一套 24 特征 · 同一划分 · test 段速率口径 RMSE (mm/day) —— 越短越好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0" y="1508760"/>
            <a:ext cx="4343400" cy="4160520"/>
          </a:xfrm>
          <a:prstGeom prst="roundRect">
            <a:avLst>
              <a:gd name="adj" fmla="val 131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43800" y="1691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如实解读：树模型的边界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0" y="205740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persistence 被全线打败（0.356）→ 流水线无泄漏、目标可预报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线性/岭回归（0.271）几乎追平 XGBoost（0.295）：本数据机制近线性，GBDT 优势无从发挥，分段常数还多付方差代价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真实边坡非线性（入渗饱和、阈值响应）越强，差距越会反转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不可替代性在精度之外：秒级训练、特征可插拔、精确归因、单调约束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数据来源：04_XGBoost_SHAP_位移预测与归因_实现与调参.ipynb（dl-env 实测输出）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算法介绍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精度检验 · 两级口径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速率建模 → 累加重构 → 递归多步外推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51560" y="16002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0.2947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51560" y="216712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调参后 test RMSE（速率 mm/day）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R²=0.632 · MAE=0.239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09160" y="16002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30.61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709160" y="216712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累积重构 RMSE（mm）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R²=0.912 · 从测试段起点累加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66760" y="16002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8.87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366760" y="216712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 45 步累积 RMSE（mm）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步 6.11 · 误差近线性增长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20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两级口径（与 ①③ 同一杆秤）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速率空间：建模目标口径，预警看它（时效性）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累积重构：应用口径，从真实起点累加预测速率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横向参考：① 0.2570/13.38mm，③ 0.2632/10.42mm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520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递归多步（误差自累积检验）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38862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预测速率回填自回归特征滚动外推，多起点评估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假设：未来降雨/水位有预报（演示用真值代替，与 ③ 同）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自回归主导的模型 45 步后误差可控 —— 归因与约束保底外推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数据来源：04_XGBoost_SHAP_位移预测与归因_实现与调参.ipynb（dl-env 实测输出）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算法介绍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随机搜索 12 组 + val 早停：3 秒搜完一个模型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最优配置（val RMSE 0.2861）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max_depth =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64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交互阶数适中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05456"/>
            <a:ext cx="530352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70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eta = 0.05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7764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小步多轮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72384"/>
            <a:ext cx="530352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369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min_child_weight =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3236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压小叶过拟合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39312"/>
            <a:ext cx="530352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subsample / colsample = 0.6 / 0.8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77640" y="3803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行/列双随机降方差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530352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70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reg_lambda = 10 · gamma =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强正则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773168"/>
            <a:ext cx="530352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937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早停 best_iteration = 294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4937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 段自动定轮数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1508760"/>
            <a:ext cx="502920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1691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gain 重要性：先看一眼，别当归因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0" y="205740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gain = 分裂带来的平均目标下降：衡量“训练时被用得多深”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gain Top-5：rate_mean3 / eff_rain / rate_mean7 / rate_lag2 / dlevel7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高度相关特征互相抢功劳；用得少 ≠ 不重要 —— 与 SHAP 排名 Spearman 相关 0.715，相似但不相同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严谨归因 → 下一页 SHAP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数据来源：04_XGBoost_SHAP_位移预测与归因_实现与调参.ipynb（dl-env 实测输出）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算法介绍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SHAP 原理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Shapley 公理归因：树模型的精确分解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1325880"/>
          </a:xfrm>
          <a:prstGeom prst="roundRect">
            <a:avLst>
              <a:gd name="adj" fmla="val 4138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phi_i = SUM over S:  w(|S|) · [ v(S ∪ {i}) - v(S) ]          (all-feature-subset average marginal)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0665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Additivity:  SUM_i phi_i + phi_base = f(x)          (phi_base = E[f(X)] = 1.3837 mm/day)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加和性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4088" y="356616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贡献分解不重不漏 → 本篇用它做“SHAP 版梯度检查”：逐样本验证，相对残差 6.6e-03 ✅（float32 累加舍入量级）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9392" y="30175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一致性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80560" y="356616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特征在模型中贡献变大，其 φ 不会变小 → 重要性排序可信（gain 做不到）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55864" y="30175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缺失替代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57032" y="356616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无贡献特征 φ=0；树模型 TreeSHAP 精确多项式算法（Lundberg 2020）—— xgboost 内置 pred_contribs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57150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φ_base = 训练集背景分布上的期望输出；贡献有正有负 —— 正 = 推高预测，负 = 拉低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数据来源：04_XGBoost_SHAP_位移预测与归因_实现与调参.ipynb（dl-env 实测输出）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算法介绍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SHAP · 全局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哪些特征在撑预测，往哪个方向撑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937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mean|SHAP| Top-5（完整 24 特征 beeswarm 见 Notebook §8.2）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29400" y="1554480"/>
            <a:ext cx="5029200" cy="4023360"/>
          </a:xfrm>
          <a:prstGeom prst="roundRect">
            <a:avLst>
              <a:gd name="adj" fmla="val 136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0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怎么读 beeswarm / 依赖图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0" y="21031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beeswarm 每点 = 一个样本：横轴 SHAP 值、颜色 = 特征值高低 —— 同时读出方向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eff_rain：红色（大值）集中在正贡献端 → 有效降雨越大预测速率越高，且大值端出现饱和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依赖图叠加颜色特征可暴露交互：最强交互 rate_mean3 × eff_rain（0.0148 mm/day）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rate_lag1 高速率端正贡献 → “已经很快 → 明天更快”的加速惯性被学进结构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数据来源：04_XGBoost_SHAP_位移预测与归因_实现与调参.ipynb（dl-env 实测输出）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算法介绍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SHAP · 归因报告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预警升级那天，自动输出“主要驱动因子 Top-5”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309360" cy="4160520"/>
          </a:xfrm>
          <a:prstGeom prst="roundRect">
            <a:avLst>
              <a:gd name="adj" fmla="val 1319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加速期 Top-5（测试段速率前 20%，≥1.48 mm/day）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0848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eff_rain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208483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0.2357 mm/day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208483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全期 #1 —— 有效降雨是加速的第一驱动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596896"/>
            <a:ext cx="580644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614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7614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rate_mean3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34640" y="27614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0.1043 mm/day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27614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全期 #2 —— 近 3 日速率惯性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273552"/>
            <a:ext cx="580644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3814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43814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disp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34640" y="343814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0.0953 mm/day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3438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全期 #3 —— 损伤累积水平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950208"/>
            <a:ext cx="580644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148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1148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rate_mean7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834640" y="41148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0.0431 mm/day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06240" y="41148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全期 #4 —— 周尺度惯性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626864"/>
            <a:ext cx="5806440" cy="0"/>
          </a:xfrm>
          <a:prstGeom prst="line">
            <a:avLst/>
          </a:prstGeom>
          <a:noFill/>
          <a:ln w="9525">
            <a:solidFill>
              <a:srgbClr val="D7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7914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479145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rain7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834640" y="47914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0.0406 mm/day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06240" y="479145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全期 #7 → 加速期升至 #5：累计雨量是加速信号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95160" y="1463040"/>
            <a:ext cx="46634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7DEE6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23760" y="1645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单点瀑布图（最强加速日 2021-05-01）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223760" y="205740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 1.38 → 特征推/拉 → 预测 1.87（实测 2.36）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每个特征标注取值：“eff_rain=XX（高于平常）抬高 YY mm/day”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平常期 vs 加速期榜单结构不同 → 回答“这次加速因为什么”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工程落位：预警升级 → 自动跑 SHAP → Top-5 随预警单发出（L4）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数据来源：04_XGBoost_SHAP_位移预测与归因_实现与调参.ipynb（dl-env 实测输出）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算法介绍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消融 · 物理单调约束 · 分位数初探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36776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特征族消融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291840" y="1618488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 0.2947 / −自回归 0.3174 / −库水位 0.2986 / −降雨 0.2737 / 仅环境 0.4436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0" y="161848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−降雨略降：短期信息被自回归吸收；环境族价值在外推与归因，不在单步 RMSE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953512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8152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物理单调约束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291840" y="30632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monotone_constraints：降雨族 +1、干期 −1、骤降 +1 —— 限定响应方向不限形状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9680" y="30632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 0.2861→0.2892、test +0.0018：极小代价买断“超强降雨下非物理响应”的外推保险（③ 核正则的树版）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398264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5262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分位数回归初探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291840" y="450799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reg:quantileerror 训 5%/95% 分位 —— 只换损失不动框架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69680" y="450799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 区间 PICP=0.935、宽度-|误差|相关 0.241；正式覆盖保证 → ⑤ Conformal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58704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单调约束后 SHAP 依赖图不再出现非物理负向段 —— 物理一致性可以直接“画”出来检验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数据来源：04_XGBoost_SHAP_位移预测与归因_实现与调参.ipynb（dl-env 实测输出）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算法介绍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落地指南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接入真实数据 Checklist 与常见坑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Checklist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6235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 L2 融合层单点宽表 CSV 放入 XGBoost+SHAP/（date + 融合位移/速率 + 驱动量 + InSAR 面域量）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 §3 GROUPS 增删特征族（如 InSAR: insar_vel / coh_chg / dist_edge），守住因果红线：特征 ≤τ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 先跑基线：persistence 必须被打败，否则特征或划分有泄漏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 §7 随机搜索 + val 早停 → §8 SHAP 做物理 sanity check（eff_rain 依赖应单调非负）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 §9.1 消融论证特征族必要性 → §9.2 单调约束（强降雨外推保险，强烈建议开）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  风险应用：§8.5 加速期 Top-5 随预警单发出；区间接 ⑤ Conformal 校准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12280" y="1463040"/>
            <a:ext cx="4846320" cy="4480560"/>
          </a:xfrm>
          <a:prstGeom prst="roundRect">
            <a:avLst>
              <a:gd name="adj" fmla="val 1224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645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常见坑速查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0" y="2057400"/>
            <a:ext cx="4434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随机打乱样本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rolling/滞后特征包含目标时刻 ❌（一律 ≤τ）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gain 重要性当 SHAP/归因用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递归多步用真值假装完美预报、报告不声明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早停挂 test 段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小样本开大 depth + 小 min_child_weight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分位数区间当“保证覆盖率”用 ❌（那是 ⑤ 的活）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5394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每一条都对应 Notebook 中的讨论或实验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数据来源：04_XGBoost_SHAP_位移预测与归因_实现与调参.ipynb（dl-env 实测输出）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算法介绍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834640"/>
            <a:ext cx="4480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A3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小结与衔接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交付：从零 GBDT（四项验证全绿 + 官方对齐差 0.0033 mm/day）+ 24 特征防泄漏流水线 + SHAP 归因全套 + 单调约束/分位数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调参后 test RMSE 0.2947 mm/day（累积重构 30.6 mm，R²=0.912）；加速期 Top-5 驱动因子：eff_rain / rate_mean3 / disp / rate_mean7 / rain7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核心实证：机制近线性时线性基线追平树模型（0.271 vs 0.295）—— 树的价值在归因、约束、效率；加速期 rain7 从全期 #7 升至 #5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与系列其他算法的衔接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分位数/Conformal：在本模型残差上做校准，把 PICP 0.935 升级为有限样本覆盖保证。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 PINN：单调约束是“方向先验”，PINN 把物理先验升级为方程残差。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⑧ 时序基础模型：Chronos/TimesFM zero-shot 作为“无特征基线”与本篇对比。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④ XGBoost + SHAP 可解释位移预测</dc:title>
  <dc:subject>PptxGenJS Presentation</dc:subject>
  <dc:creator>DL-Geo</dc:creator>
  <cp:lastModifiedBy>DL-Geo</cp:lastModifiedBy>
  <cp:revision>1</cp:revision>
  <dcterms:created xsi:type="dcterms:W3CDTF">2026-09-06T08:01:18Z</dcterms:created>
  <dcterms:modified xsi:type="dcterms:W3CDTF">2026-09-06T08:01:18Z</dcterms:modified>
</cp:coreProperties>
</file>