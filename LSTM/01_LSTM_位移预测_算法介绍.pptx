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累积位移口径 RMSE (mm)</c:v>
                </c:pt>
              </c:strCache>
            </c:strRef>
          </c:tx>
          <c:spPr>
            <a:solidFill>
              <a:srgbClr val="24425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2E"/>
                    </a:solidFill>
                    <a:latin typeface="PingFang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442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163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(c) 速率-重构（主方案）</c:v>
                  </c:pt>
                  <c:pt idx="1">
                    <c:v>(b) 趋势-残差分解</c:v>
                  </c:pt>
                  <c:pt idx="2">
                    <c:v>(a) 直接预测累积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14.07</c:v>
                </c:pt>
                <c:pt idx="1">
                  <c:v>126.54</c:v>
                </c:pt>
                <c:pt idx="2">
                  <c:v>389.61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E242E"/>
                  </a:solidFill>
                  <a:latin typeface="PingFang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0"/>
        </c:scaling>
        <c:delete val="0"/>
        <c:axPos val="b"/>
        <c:majorGridlines>
          <c:spPr>
            <a:ln w="6350" cap="flat">
              <a:solidFill>
                <a:srgbClr val="E5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PingFang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RMSE (mm/day)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2E"/>
                    </a:solidFill>
                    <a:latin typeface="PingFang S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trial0</c:v>
                  </c:pt>
                  <c:pt idx="1">
                    <c:v>trial1</c:v>
                  </c:pt>
                  <c:pt idx="2">
                    <c:v>trial2</c:v>
                  </c:pt>
                  <c:pt idx="3">
                    <c:v>trial3</c:v>
                  </c:pt>
                  <c:pt idx="4">
                    <c:v>trial4</c:v>
                  </c:pt>
                  <c:pt idx="5">
                    <c:v>trial5/6</c:v>
                  </c:pt>
                  <c:pt idx="6">
                    <c:v>trial7</c:v>
                  </c:pt>
                  <c:pt idx="7">
                    <c:v>trial8</c:v>
                  </c:pt>
                  <c:pt idx="8">
                    <c:v>trial9</c:v>
                  </c:pt>
                  <c:pt idx="9">
                    <c:v>trial10</c:v>
                  </c:pt>
                  <c:pt idx="10">
                    <c:v>trial11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0.286</c:v>
                </c:pt>
                <c:pt idx="1">
                  <c:v>0.2928</c:v>
                </c:pt>
                <c:pt idx="2">
                  <c:v>0.2834</c:v>
                </c:pt>
                <c:pt idx="3">
                  <c:v>0.2874</c:v>
                </c:pt>
                <c:pt idx="4">
                  <c:v>0.2855</c:v>
                </c:pt>
                <c:pt idx="5">
                  <c:v>0.2958</c:v>
                </c:pt>
                <c:pt idx="6">
                  <c:v>0.2819</c:v>
                </c:pt>
                <c:pt idx="7">
                  <c:v>0.2872</c:v>
                </c:pt>
                <c:pt idx="8">
                  <c:v>0.2821</c:v>
                </c:pt>
                <c:pt idx="9">
                  <c:v>0.2844</c:v>
                </c:pt>
                <c:pt idx="10">
                  <c:v>0.2886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42E"/>
                  </a:solidFill>
                  <a:latin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1200" b="0" i="0" u="none" strike="noStrike">
                <a:solidFill>
                  <a:srgbClr val="6B7480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  <c:min val="0.27"/>
        </c:scaling>
        <c:delete val="0"/>
        <c:axPos val="l"/>
        <c:majorGridlines>
          <c:spPr>
            <a:ln w="6350" cap="flat">
              <a:solidFill>
                <a:srgbClr val="E5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PingFang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RMSE (mm/day)</c:v>
                </c:pt>
              </c:strCache>
            </c:strRef>
          </c:tx>
          <c:spPr>
            <a:solidFill>
              <a:srgbClr val="416380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2E"/>
                    </a:solidFill>
                    <a:latin typeface="PingFang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163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442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1638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LSTM×3 集成</c:v>
                  </c:pt>
                  <c:pt idx="1">
                    <c:v>BiLSTM</c:v>
                  </c:pt>
                  <c:pt idx="2">
                    <c:v>LSTM(调参后)</c:v>
                  </c:pt>
                  <c:pt idx="3">
                    <c:v>GRU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0.2562</c:v>
                </c:pt>
                <c:pt idx="1">
                  <c:v>0.2554</c:v>
                </c:pt>
                <c:pt idx="2">
                  <c:v>0.257</c:v>
                </c:pt>
                <c:pt idx="3">
                  <c:v>0.2598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42E"/>
                  </a:solidFill>
                  <a:latin typeface="PingFang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65"/>
          <c:min val="0.24"/>
        </c:scaling>
        <c:delete val="0"/>
        <c:axPos val="b"/>
        <c:majorGridlines>
          <c:spPr>
            <a:ln w="6350" cap="flat">
              <a:solidFill>
                <a:srgbClr val="E5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PingFang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</c:v>
                </c:pt>
              </c:strCache>
            </c:strRef>
          </c:tx>
          <c:spPr>
            <a:solidFill>
              <a:srgbClr val="416380"/>
            </a:solidFill>
            <a:ln w="31750" cap="flat">
              <a:solidFill>
                <a:srgbClr val="416380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2E"/>
                    </a:solidFill>
                    <a:latin typeface="PingFang S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16380"/>
              </a:solidFill>
              <a:ln w="9525" cap="flat">
                <a:solidFill>
                  <a:srgbClr val="4163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0.1</c:v>
                  </c:pt>
                  <c:pt idx="2">
                    <c:v>0.3</c:v>
                  </c:pt>
                  <c:pt idx="3">
                    <c:v>1.0</c:v>
                  </c:pt>
                  <c:pt idx="4">
                    <c:v>3.0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0.2819</c:v>
                </c:pt>
                <c:pt idx="1">
                  <c:v>0.2831</c:v>
                </c:pt>
                <c:pt idx="2">
                  <c:v>0.2863</c:v>
                </c:pt>
                <c:pt idx="3">
                  <c:v>0.2935</c:v>
                </c:pt>
                <c:pt idx="4">
                  <c:v>0.3051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C2410C"/>
            </a:solidFill>
            <a:ln w="31750" cap="flat">
              <a:solidFill>
                <a:srgbClr val="C2410C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2E"/>
                    </a:solidFill>
                    <a:latin typeface="PingFang S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2410C"/>
              </a:solidFill>
              <a:ln w="9525" cap="flat">
                <a:solidFill>
                  <a:srgbClr val="C241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0.1</c:v>
                  </c:pt>
                  <c:pt idx="2">
                    <c:v>0.3</c:v>
                  </c:pt>
                  <c:pt idx="3">
                    <c:v>1.0</c:v>
                  </c:pt>
                  <c:pt idx="4">
                    <c:v>3.0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0.257</c:v>
                </c:pt>
                <c:pt idx="1">
                  <c:v>0.2581</c:v>
                </c:pt>
                <c:pt idx="2">
                  <c:v>0.2614</c:v>
                </c:pt>
                <c:pt idx="3">
                  <c:v>0.2579</c:v>
                </c:pt>
                <c:pt idx="4">
                  <c:v>0.267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42E"/>
                  </a:solidFill>
                  <a:latin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PingFang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PingFang SC"/>
              <a:cs typeface="PingFang SC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731520"/>
            <a:ext cx="4572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2A3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 · 算法系列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LSTM 单点位移预测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4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完整实现 · 精度检验 · 调参 · 改进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防泄漏流水线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479145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训练段 fit · 按目标时刻划分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35808" y="4160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35808" y="4480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从零实现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035808" y="479145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NumPy 前向反向 + 梯度检查 + 官方对齐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31536" y="4160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31536" y="4480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两级口径评估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31536" y="479145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速率 mm/day + 累积重构 mm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27264" y="4160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27264" y="4480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调参与改进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827264" y="479145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随机搜索 · 消融 · 物理融合 · 不确定性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配套 Notebook 与全部结果均为 dl-env 内核实测输出，可直接复现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算法系列 · 定位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单点时序预测：整个算法系列的起点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2133600" cy="777240"/>
          </a:xfrm>
          <a:prstGeom prst="chevron">
            <a:avLst/>
          </a:prstGeom>
          <a:solidFill>
            <a:srgbClr val="24425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单点时序（本篇）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LSTM/GRU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27960" y="1463040"/>
            <a:ext cx="2133600" cy="777240"/>
          </a:xfrm>
          <a:prstGeom prst="chevron">
            <a:avLst/>
          </a:prstGeom>
          <a:solidFill>
            <a:srgbClr val="24425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多点时空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GCN 监测网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53000" y="1463040"/>
            <a:ext cx="2133600" cy="777240"/>
          </a:xfrm>
          <a:prstGeom prst="chevron">
            <a:avLst/>
          </a:prstGeom>
          <a:solidFill>
            <a:srgbClr val="24425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混合架构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CNN+Transformer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3957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已完成：④ XGBoost+SHAP   待加：⑤ 分位数/Conformal 风险区间   ⑥ PINN   ⑦ 神经算子   ⑧ 时序基础模型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6583680" cy="2331720"/>
          </a:xfrm>
          <a:prstGeom prst="roundRect">
            <a:avLst>
              <a:gd name="adj" fmla="val 2353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632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本篇要解决的问题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6126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场景：边坡/库岸单个 GNSS 测点，日尺度监测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输入：过去 30 天环境驱动 + 位移自身历史（自回归）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输出：明日位移速率（mm/day）→ 累加重构累积位移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难点：目标持续增长（非平稳）、雨季台阶状突变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60920" y="2880360"/>
            <a:ext cx="42976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3600000">
              <a:srgbClr val="1C2B3A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89520" y="3063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为什么是 LSTM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89520" y="3429000"/>
            <a:ext cx="3886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门控记忆：能记住数月尺度的水文过程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多变量：降雨/水位/温度统一编码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小样本友好：参数量适中、收敛稳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训练轻量：基线 21 秒收敛（早停 epoch 48），CPU 即可复现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数据来源：01_LSTM_位移预测_实现与调参.ipynb（dl-env 实测输出）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算法介绍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演示数据 · 可整体替换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合成数据：把“位移为什么这样长”写进机制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400800" cy="4114800"/>
          </a:xfrm>
          <a:prstGeom prst="roundRect">
            <a:avLst>
              <a:gd name="adj" fmla="val 1333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位移速率的物理分解（2190 天 · 6 年日尺度）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9933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蠕变衰减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377440" y="19933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0.9·e^(−t/650) mm/day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22677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长期项：随时间缓慢衰减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585216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降雨响应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377440" y="2834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0.10·R^eff（τ=12 天指数核）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3108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事件项：入渗渗流滞后，雨季台阶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493008"/>
            <a:ext cx="585216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758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库水位骤降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377440" y="3675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0.9·max(0, −ΔL)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39502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事件项：只对“骤降”响应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334256"/>
            <a:ext cx="585216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5171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观测噪声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377440" y="45171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ε ~ N(0, 0.15)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77440" y="47914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任何模型都不可预报的底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2120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速率 v(t) 逐日累加 → 累积位移 D(t)：雨季呈台阶状增长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178040" y="1417320"/>
            <a:ext cx="448056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3600000">
              <a:srgbClr val="1C2B3A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06640" y="16002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数据规格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0664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时间范围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82396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2016-01-01 起 · 2190 天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406640" y="2414016"/>
            <a:ext cx="402336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驱动特征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823960" y="2587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降雨 / 库水位 / 温度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406640" y="2990088"/>
            <a:ext cx="402336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3163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目标（原始）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823960" y="3163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累积位移 disp_mm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406640" y="3566160"/>
            <a:ext cx="402336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3739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目标（建模）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823960" y="3739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位移速率 = 一阶差分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406640" y="4142232"/>
            <a:ext cx="402336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0" y="4315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数据格式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823960" y="4315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长表 CSV（date/驱动/目标）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406640" y="4718304"/>
            <a:ext cx="402336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06640" y="4892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存储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82396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demo_geodata.csv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数据来源：01_LSTM_位移预测_实现与调参.ipynb（dl-env 实测输出）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算法介绍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目标构造 · 一个重要的反例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直接预测累积位移？错得非常彻底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63040"/>
          <a:ext cx="6492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7548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同一模型、同一调参，只换目标构造 —— 累积口径 RMSE (mm)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315200" y="1463040"/>
            <a:ext cx="4343400" cy="3977640"/>
          </a:xfrm>
          <a:prstGeom prst="roundRect">
            <a:avLst>
              <a:gd name="adj" fmla="val 1379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4380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三种处理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43800" y="2057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(a) 直接预测累积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543800" y="235000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R² = −13.05：测试段超出训练范围，无法外推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543800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(b) 趋势-残差分解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543800" y="33101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R² = −0.48：趋势外推形式是软肋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543800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(c) 速率-重构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543800" y="427024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R² = 0.982：差分自动处理趋势，最稳健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543800" y="5029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结论：位移类“持续增长”目标，一律先差分出速率再建模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数据来源：01_LSTM_位移预测_实现与调参.ipynb（dl-env 实测输出）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算法介绍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数据流水线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防泄漏五步：标准化器永远不见未来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2157984" cy="822960"/>
          </a:xfrm>
          <a:prstGeom prst="chevron">
            <a:avLst/>
          </a:prstGeom>
          <a:solidFill>
            <a:srgbClr val="24425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差分出速率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52344" y="1508760"/>
            <a:ext cx="2157984" cy="822960"/>
          </a:xfrm>
          <a:prstGeom prst="chevron">
            <a:avLst/>
          </a:prstGeom>
          <a:solidFill>
            <a:srgbClr val="24425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插值 + 4σ 截尾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01768" y="1508760"/>
            <a:ext cx="2157984" cy="822960"/>
          </a:xfrm>
          <a:prstGeom prst="chevron">
            <a:avLst/>
          </a:prstGeom>
          <a:solidFill>
            <a:srgbClr val="24425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训练段 fit scaler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51192" y="1508760"/>
            <a:ext cx="2157984" cy="822960"/>
          </a:xfrm>
          <a:prstGeom prst="chevron">
            <a:avLst/>
          </a:prstGeom>
          <a:solidFill>
            <a:srgbClr val="24425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滑窗 30→1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00616" y="1508760"/>
            <a:ext cx="2157984" cy="822960"/>
          </a:xfrm>
          <a:prstGeom prst="chevron">
            <a:avLst/>
          </a:prstGeom>
          <a:solidFill>
            <a:srgbClr val="24425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按目标时刻 70/15/15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8895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训练段 fit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" y="3200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StandardScaler 只用前 70% 拟合，val/test 只 transform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274320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8895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速率共用 scaler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19088" y="3200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目标列同时是输入（自回归）→ 输入输出同一标准化，递归预测可直接回填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24528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43708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按目标时刻划分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" y="468172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样本归属由“标签在哪天”决定，绝不随机打乱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4224528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43708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 保持二维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19088" y="468172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(M,1)：避免 (B,1) 与 (B,) 的 MSE 错误广播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58064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为什么要防泄漏：scaler 若在全量上 fit，“未来”的均值方差就渗进了训练 → 测试精度虚高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数据来源：01_LSTM_位移预测_实现与调参.ipynb（dl-env 实测输出）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算法介绍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模型原理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LSTM：用三道门控制“记什么、忘什么”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583680" cy="2834640"/>
          </a:xfrm>
          <a:prstGeom prst="roundRect">
            <a:avLst>
              <a:gd name="adj" fmla="val 1935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31720"/>
            <a:ext cx="5669280" cy="0"/>
          </a:xfrm>
          <a:prstGeom prst="line">
            <a:avLst/>
          </a:prstGeom>
          <a:noFill/>
          <a:ln w="38100">
            <a:solidFill>
              <a:srgbClr val="2442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659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细胞状态 C(t) —— 贯穿时间的“传送带”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08760" y="2121408"/>
            <a:ext cx="420624" cy="420624"/>
          </a:xfrm>
          <a:prstGeom prst="ellipse">
            <a:avLst/>
          </a:prstGeom>
          <a:solidFill>
            <a:srgbClr val="416380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×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遗忘门 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丢弃旧记忆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2121408"/>
            <a:ext cx="420624" cy="42062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2608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输入门 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写入新事件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49240" y="2121408"/>
            <a:ext cx="420624" cy="420624"/>
          </a:xfrm>
          <a:prstGeom prst="ellipse">
            <a:avLst/>
          </a:prstGeom>
          <a:solidFill>
            <a:srgbClr val="24425C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输出门 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暴露为输出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4290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h(t) = o(t) ⊙ tanh(C(t))    C(t) = f(t)⊙C(t−1) + i(t)⊙c̃(t)    门 = σ(W·[h(t−1), x(t)])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60920" y="1463040"/>
            <a:ext cx="4297680" cy="2834640"/>
          </a:xfrm>
          <a:prstGeom prst="roundRect">
            <a:avLst>
              <a:gd name="adj" fmla="val 1935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岩土含义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89520" y="2011680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遗忘门 ≈ 蠕变记忆的缓慢衰减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输入门 ≈ 暴雨/骤降事件写入记忆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细胞状态 ≈ 坡体内“储存的水与变形”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输出门 ≈ 把状态翻译成当日速率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门控把“事件响应”与“背景蠕变”分开建模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4526280"/>
            <a:ext cx="11155680" cy="1417320"/>
          </a:xfrm>
          <a:prstGeom prst="roundRect">
            <a:avLst>
              <a:gd name="adj" fmla="val 3871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681728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相比普通 RNN：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梯度沿细胞状态近似线性流动，长序列训练不易梯度消失 —— 这正是“数月尺度水文记忆”能被学到的结构保障。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实测：48 个 epoch 早停、val MSE 0.1869 —— 门控结构在小样本上收敛稳定，无需特殊技巧。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数据来源：01_LSTM_位移预测_实现与调参.ipynb（dl-env 实测输出）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算法介绍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从零实现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NumPy 手写 LSTM + BPTT：先吃透，再用框架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55680" cy="1170432"/>
          </a:xfrm>
          <a:prstGeom prst="roundRect">
            <a:avLst>
              <a:gd name="adj" fmla="val 4688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367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前向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057400" y="1618488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逐时间步：4 个门的仿射 + sigmoid/tanh，细胞状态与隐状态双通道传递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89720" y="161848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W_f/W_i/W_o/W_c 堆叠为一次矩阵乘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11155680" cy="1170432"/>
          </a:xfrm>
          <a:prstGeom prst="roundRect">
            <a:avLst>
              <a:gd name="adj" fmla="val 4688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083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57400" y="2990088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BPTT：沿时间反向遍历，细胞状态梯度分两路（经 C(t−1) 与经 h(t)）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89720" y="299008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门梯度 = δ⊙激活导数⊙x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251960"/>
            <a:ext cx="11155680" cy="1170432"/>
          </a:xfrm>
          <a:prstGeom prst="roundRect">
            <a:avLst>
              <a:gd name="adj" fmla="val 4688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3799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057400" y="4361688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解析梯度 vs 中心差分数值梯度，逐参数最大相对误差 &lt; 1e-5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89720" y="436168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梯度检查 ✅ BPTT 实现正确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为什么要手写：</a:t>
            </a:r>
            <a:pPr indent="0" marL="0">
              <a:buNone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框架会隐藏维度错误与梯度细节；亲手推一遍 BPTT，后面调参时才分得清“数据问题 / 模型问题 / 优化问题”。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数据来源：01_LSTM_位移预测_实现与调参.ipynb（dl-env 实测输出）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算法介绍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实战与训练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PyTorch 实现：结构可切换，训练组件标准化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023360"/>
          </a:xfrm>
          <a:prstGeom prst="roundRect">
            <a:avLst>
              <a:gd name="adj" fmla="val 1364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模型结构（可切换）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nn.LSTM(4 → hidden, num_layers, dropout, bidirectional)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结构开关：LSTM / GRU / BiLSTM 一键切换（§9.2 对比）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回归头：Linear(hidden→32) → ReLU → Dropout → Linear(32→1)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取最后时刻隐状态 h(T) 汇总整个窗口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 (M,1) → inverse_transform 回物理量纲（mm/day）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4983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基线配置：hidden=64 · layers=2 · dropout=0.2 · SEQ_LEN=30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39496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9525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3600000">
              <a:srgbClr val="1C2B3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645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训练四件套（系列统一标准）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084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AdamW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01000" y="208483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lr=1e-3, weight_decay=1e-4，自适应 + 解耦权重衰减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7980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早停回滚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001000" y="279806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 20 轮无改善即停，回滚到最优权重（防过拟合后段）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35112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LR 调度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01000" y="351129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ReduceLROnPlateau：val 平台期 lr 减半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4224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梯度裁剪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01000" y="422452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max_norm=5.0：RNN 训练的防爆阀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5029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实测：早停于 epoch 48，最佳 val MSE = 0.1869（用时 21s）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数据来源：01_LSTM_位移预测_实现与调参.ipynb（dl-env 实测输出）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算法介绍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精度检验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两级口径：速率空间建模，累积空间应用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276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0.2595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1945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test RMSE (mm/day)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64992" y="14630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4992" y="16276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0.719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64992" y="21945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test R² / NSE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27064" y="14630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27064" y="16276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14.07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27064" y="21945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累积重构 RMSE (mm)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89136" y="14630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89136" y="16276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0.982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89136" y="21945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累积重构 R²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46120"/>
          <a:ext cx="6400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18872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划分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2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RMSE (mm/day)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2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MAE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2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MAPE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2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R²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2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4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train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4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0.3211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4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0.2170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4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22.3%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4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0.767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4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val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4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0.2856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4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0.2246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4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31.7%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4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0.739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4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test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2410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0.2595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4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0.2022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4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36.4%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2410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0.719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7315200" y="3246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检验要点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315200" y="361188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train RMSE 最高≠异常：train 段含早期高速蠕变，量级天然更大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NSE 与 R² 在速率口径下等价，水文审稿口径友好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MAPE 对近零速率敏感，需配合 RMSE/MAE 一起报告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另附递归多步预测：45 天滚动外推 + 误差随步长增长曲线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数据来源：01_LSTM_位移预测_实现与调参.ipynb（dl-env 实测输出）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算法介绍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随机搜索 12 组：最优配置并不贵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63040"/>
          <a:ext cx="6400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663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组随机搜索的 val RMSE：全距仅 0.014 mm/day —— 对超参不敏感，把时间花在数据上更值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315200" y="1463040"/>
            <a:ext cx="4343400" cy="3977640"/>
          </a:xfrm>
          <a:prstGeom prst="roundRect">
            <a:avLst>
              <a:gd name="adj" fmla="val 1379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43800" y="1645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最优配置（val RMSE 0.2819）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543800" y="2103120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21031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hidden </a:t>
            </a:r>
            <a:pPr algn="ctr" indent="0" marL="0">
              <a:buNone/>
            </a:pPr>
            <a:r>
              <a:rPr lang="en-US" sz="130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64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961120" y="2103120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0" y="21031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layers </a:t>
            </a:r>
            <a:pPr algn="ctr" indent="0" marL="0">
              <a:buNone/>
            </a:pPr>
            <a:r>
              <a:rPr lang="en-US" sz="130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0378440" y="2103120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78440" y="21031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dropout </a:t>
            </a:r>
            <a:pPr algn="ctr" indent="0" marL="0">
              <a:buNone/>
            </a:pPr>
            <a:r>
              <a:rPr lang="en-US" sz="130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543800" y="2788920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43800" y="27889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lr </a:t>
            </a:r>
            <a:pPr algn="ctr" indent="0" marL="0">
              <a:buNone/>
            </a:pPr>
            <a:r>
              <a:rPr lang="en-US" sz="130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1e-3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961120" y="2788920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0" y="27889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batch </a:t>
            </a:r>
            <a:pPr algn="ctr" indent="0" marL="0">
              <a:buNone/>
            </a:pPr>
            <a:r>
              <a:rPr lang="en-US" sz="130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54380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调参心法（按重要性）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543800" y="40233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容量先行：hidden / layers 定上下限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再稳优化：lr × dropout 联动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 &lt;1k：hidden≤64、layers≤2、加大 dropout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数据来源：01_LSTM_位移预测_实现与调参.ipynb（dl-env 实测输出）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算法介绍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改进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结构对比与集成：差异小，集成稳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63040"/>
          <a:ext cx="6309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7548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速率口径 test RMSE（越低越好）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223760" y="1463040"/>
            <a:ext cx="4434840" cy="3977640"/>
          </a:xfrm>
          <a:prstGeom prst="roundRect">
            <a:avLst>
              <a:gd name="adj" fmla="val 1379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1645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怎么读这张图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52360" y="205740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四个模型差距 &lt; 2%：结构不是瓶颈，数据质量才是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BiLSTM 速率口径最好（0.2554），累积口径也最佳（9.47mm，R²=0.992）——双向上下文捕获雨季前后形态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BiLSTM 部署注意：需整段历史可用，严禁混入未来驱动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LSTM×3 集成：RMSE 0.2562 且更稳，代价 ×3 训练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数据来源：01_LSTM_位移预测_实现与调参.ipynb（dl-env 实测输出）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算法介绍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改进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物理软约束 + MC Dropout：给点预测装上“物理”与“区间”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55680" cy="1234440"/>
          </a:xfrm>
          <a:prstGeom prst="roundRect">
            <a:avLst>
              <a:gd name="adj" fmla="val 4444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27632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 = MSE(v̂, v) </a:t>
            </a:r>
            <a:pPr indent="0" marL="0">
              <a:buNone/>
            </a:pPr>
            <a:r>
              <a:rPr lang="en-US" sz="16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λ · </a:t>
            </a:r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MSE(v̂, v_phys)</a:t>
            </a:r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　　v_phys = 最小二乘率定的机理模型（蠕变 + 有效降雨 + 骤降，系数只用训练段）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971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λ 扫描（test RMSE, mm/day）</a:t>
            </a:r>
            <a:endParaRPr lang="en-US" sz="14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3337560"/>
          <a:ext cx="5486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λ 大 → 被粗糙机理模型拖累；λ=0 即纯数据模型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2971800"/>
            <a:ext cx="5257800" cy="2743200"/>
          </a:xfrm>
          <a:prstGeom prst="roundRect">
            <a:avLst>
              <a:gd name="adj" fmla="val 2000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29400" y="31546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 Dropout 不确定性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29400" y="35204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预测时保持 Dropout，采样 50 次 → 均值 + 95% 区间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 PICP = 0.378（理想 0.95）→ 区间过自信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诊断：MC Dropout 只覆盖模型不确定性，不覆盖噪声底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升级路线：Conformal / 分位数回归（算法⑤）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数据来源：01_LSTM_位移预测_实现与调参.ipynb（dl-env 实测输出）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算法介绍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落地指南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接入真实数据 Checklist 与常见坑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Checklist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56235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 CSV 放入 LSTM/：时间列 + 驱动列 + 目标列（等间隔、缺测已插值）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 改 §2.2 配置区：DATA_PATH / FEATURE_COLS / TARGET_COL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 位移类目标先一阶差分出速率列（反例见 §9.1）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 SEQ_LEN 用降雨-位移互相关滞后分析确定，覆盖 1~2 个主导周期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  先基线 → 损失曲线定过拟合方向 → §8 随机搜索/Optuna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6.  样本 &lt;1k：hidden≤64、layers≤2、加大 dropout、优先集成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7.  两级口径都报告 + 过程线 + 散点图（论文标准配置）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8.  §9.4 区间宽度/超越概率接入风险矩阵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12280" y="1463040"/>
            <a:ext cx="4846320" cy="4480560"/>
          </a:xfrm>
          <a:prstGeom prst="roundRect">
            <a:avLst>
              <a:gd name="adj" fmla="val 1224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16459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常见坑速查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0" y="2057400"/>
            <a:ext cx="4434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随机打乱划分样本 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全量数据 fit scaler 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直接预测持续增长的累积值 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MAPE 用于近零速率目标 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BiLSTM 混入未来驱动序列 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test 反复调参（变成第二验证集）❌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MinMax 遇超范围极值崩溃 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5394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每一条都对应 Notebook 中可复现的实验或讨论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数据来源：01_LSTM_位移预测_实现与调参.ipynb（dl-env 实测输出）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算法介绍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834640"/>
            <a:ext cx="4480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2A3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小结与衔接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589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EE6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交付：可复现 Notebook（NumPy 从零 + PyTorch 实战 + 调参 + 改进）与两级口径结果 CSV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EE6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基线 test RMSE 0.2595 mm/day（R²=0.719），累积重构 14.07 mm（R²=0.982）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EE6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速率-重构目标构造、防泄漏流水线、训练四件套是全系列共享的工程地基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EE6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物理软约束与 MC Dropout 给出“融合模板 + 不确定性模板”，后续算法直接复用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与系列其他算法的衔接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9C4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GCN：把单个测点扩展成监测网，测点间信息互通、欠观测点借邻居 —— 空间维度的补全。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9C4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CNN+Transformer：同一场景换更强架构 —— CNN 前置提局部模式、注意力抓长依赖。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9C4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SHAP 归因、⑤ 风险区间、⑥ PINN：在 ① 打好的速率口径上直接叠加。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① LSTM 单点位移预测</dc:title>
  <dc:subject>PptxGenJS Presentation</dc:subject>
  <dc:creator>DL-Geo</dc:creator>
  <cp:lastModifiedBy>DL-Geo</cp:lastModifiedBy>
  <cp:revision>1</cp:revision>
  <dcterms:created xsi:type="dcterms:W3CDTF">2026-09-06T08:01:18Z</dcterms:created>
  <dcterms:modified xsi:type="dcterms:W3CDTF">2026-09-06T08:01:18Z</dcterms:modified>
</cp:coreProperties>
</file>