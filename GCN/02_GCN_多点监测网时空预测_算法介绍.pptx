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单测点速率缺测后 RMSE 退化 (%)</c:v>
                </c:pt>
              </c:strCache>
            </c:strRef>
          </c:tx>
          <c:spPr>
            <a:solidFill>
              <a:srgbClr val="24425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42E"/>
                    </a:solidFill>
                    <a:latin typeface="PingFang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425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ST-GCN（图）</c:v>
                  </c:pt>
                  <c:pt idx="1">
                    <c:v>GRU-only（无图）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7.5</c:v>
                </c:pt>
                <c:pt idx="1">
                  <c:v>99.8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E242E"/>
                  </a:solidFill>
                  <a:latin typeface="PingFang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b"/>
        <c:majorGridlines>
          <c:spPr>
            <a:ln w="6350" cap="flat">
              <a:solidFill>
                <a:srgbClr val="E5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480"/>
                </a:solidFill>
                <a:latin typeface="PingFang S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1192" y="731520"/>
            <a:ext cx="45720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3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 · 算法系列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多点监测网时空预测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KNN 建图 · ST-GCN · 图的物理价值 · 改进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防泄漏流水线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 · 按目标时刻划分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35808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35808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035808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 前向反向 + 梯度检查 + 官方对齐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31536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31536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两级口径评估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431536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 mm/day + 累积重构 mm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827264" y="41605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27264" y="44805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调参与改进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827264" y="47914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AA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· 消融 · 物理融合 · 不确定性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 Notebook 与全部结果均为 dl-env 内核实测输出，可直接复现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算法系列 · 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单点模型的两个盲区，一张图补全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盲区一：信息不互通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56816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逐点独立建模时，邻居测点“当前”的异常速率（扰动正在扩散）对本点完全不可见。例：GNSS-07 速率突增，相邻测点的模型毫无感知。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440680" cy="178308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6276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盲区二：欠观测无解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46520" y="1956816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传感器故障、传输中断、测点后装是监测网常态，空间欠观测的测点只能硬吃缺口。例：速率通道缺测一天，逐点模型只能拿均值填充。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2720340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监测网建图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KNN / 物理连接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4700" y="3474720"/>
            <a:ext cx="2720340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空间混合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每步聚合邻居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3474720"/>
            <a:ext cx="2720340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 时间演化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逐节点记忆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38260" y="3474720"/>
            <a:ext cx="2720340" cy="868680"/>
          </a:xfrm>
          <a:prstGeom prst="chevron">
            <a:avLst/>
          </a:prstGeom>
          <a:solidFill>
            <a:srgbClr val="0E7490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一次预测全网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个测点同时输出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57200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的回答：把监测网建成图，让信息沿“空间边”流动 —— 时空联合建模（ST-GCN）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5029200"/>
            <a:ext cx="11155680" cy="868680"/>
          </a:xfrm>
          <a:prstGeom prst="roundRect">
            <a:avLst>
              <a:gd name="adj" fmla="val 6316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138928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先睹为快（§9.1 实测）：</a:t>
            </a:r>
            <a:pPr indent="0" marL="0">
              <a:buNone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单测点速率通道缺测时，图模型 RMSE 仅退化 7.5%，无图模型退化 99.8% —— 图的价值在欠观测场景。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演示数据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 测点监测网：把“图为什么有用”写进数据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92240" cy="4114800"/>
          </a:xfrm>
          <a:prstGeom prst="roundRect">
            <a:avLst>
              <a:gd name="adj" fmla="val 1333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三层设计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37360" y="20574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易损性因子 g_i 随坐标平滑变化：临空面/坡脚大、后缘小 → 各测点量级差异显著但空间连续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737360" y="32004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共享降雨（τ=12 天滞后核）/ 库水位 / 温度 —— 全网同源，与算法①同一套物理机制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4343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噪声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737360" y="434340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空间相关新息场 w_t：在图上扩散平滑 —— 任何模型都不可预报的底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463040"/>
            <a:ext cx="4389120" cy="4114800"/>
          </a:xfrm>
          <a:prstGeom prst="roundRect">
            <a:avLst>
              <a:gd name="adj" fmla="val 1333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图的物理依据：扰动传播项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49808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ε(t) = 0.5·ε(t−1) + w(t) + 0.8·P·w(t−1)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2514600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 = 行归一化传播算子：降雨/库水扰动沿坡体渗流扩散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邻居“昨日”的扰动“今日”传导至本点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单点模型只能靠自身历史 —— 图模型一步聚合邻居当前速率即可见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 GCN 相对逐点建模的本质收益来源（§9.1 消融直接验证）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数据规格：长表 date / node_id / x / y / 驱动列 / disp_mm + 测点坐标表，12 测点 × 6 年日尺度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图构建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监测网 → 图：KNN 是缺省，物理连接优先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三步建图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 = 监测点；边 = 空间邻近（K 近邻 K=4）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对称化 A ← (A+Aᵀ)&gt;0：无向图</a:t>
            </a:r>
            <a:endParaRPr lang="en-US" sz="135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归一化 Â = D^(−1/2)(A+I)D^(−1/2)：加自环保留自身信息，度归一化防高度数节点支配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463040"/>
            <a:ext cx="5394960" cy="3017520"/>
          </a:xfrm>
          <a:prstGeom prst="roundRect">
            <a:avLst>
              <a:gd name="adj" fmla="val 1818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实测图指标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92240" y="27614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节点（测点）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0" y="21945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052560" y="27614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平均度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7947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KNN_K 可作为超参搜索：K 过小图断裂、过大过度平滑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11155680" cy="1188720"/>
          </a:xfrm>
          <a:prstGeom prst="roundRect">
            <a:avLst>
              <a:gd name="adj" fmla="val 461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920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建图优先级：</a:t>
            </a:r>
            <a:pPr indent="0" marL="0">
              <a:buNone/>
            </a:pPr>
            <a:r>
              <a:rPr lang="en-US" sz="13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有明确结构关系（同一断面、同一地质单元）→ 用物理连接建图；没有 → KNN 缺省。地质分区可作为图的社区结构（进阶）。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数据流水线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图版防泄漏：与 ① 同一原则，多一个空间维度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2157984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长表 → 宽表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(T, N)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52344" y="1508760"/>
            <a:ext cx="2157984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逐测点差分出速率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01768" y="1508760"/>
            <a:ext cx="2157984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训练段 fit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 scaler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251192" y="1508760"/>
            <a:ext cx="2157984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全网滑窗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(30, 12, 4)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00616" y="1508760"/>
            <a:ext cx="2157984" cy="868680"/>
          </a:xfrm>
          <a:prstGeom prst="chevron">
            <a:avLst/>
          </a:prstGeom>
          <a:solidFill>
            <a:srgbClr val="24425C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按目标日划分</a:t>
            </a:r>
            <a:endParaRPr lang="en-US" sz="150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train/val/test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935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两套 scaler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共享驱动（降雨/水位/温度）全网一套；速率按测点分别标准化 —— 各测点量级差异大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278892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19088" y="29352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速率通道共用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19088" y="32461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输入与输出同一 y_scaler → 递归多步预测可直接回填预测速率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70248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4416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样本形状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" y="47274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全网窗口 (SEQ_LEN, N, F) → 目标日全网速率 (N, 1)，一次预测 12 个测点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4270248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4165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划分口径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19088" y="47274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样本按“目标日期”划分，与 ① 完全一致，防止时序泄漏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585216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共享参数 + 全网样本 = 相当于单点模型 12 倍的数据量 —— 这是图模型的隐性红利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模型原理 · 从零实现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GCN：一次矩阵乘完成“邻居信息聚合”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92240" cy="2286000"/>
          </a:xfrm>
          <a:prstGeom prst="roundRect">
            <a:avLst>
              <a:gd name="adj" fmla="val 2400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谱图卷积的一阶近似（Kipf &amp; Welling, ICLR 2017）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H^(l+1) = σ( Â · H^(l) · W^(l) 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Â·H = 一次传播聚合 1 阶邻居；L 层 = L 跳感受野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 在所有节点间共享 —— 平移不变性的图版本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岩土含义：每层 GCN = 变形场做一次空间扩散/插值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463040"/>
            <a:ext cx="4389120" cy="2286000"/>
          </a:xfrm>
          <a:prstGeom prst="roundRect">
            <a:avLst>
              <a:gd name="adj" fmla="val 2400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1645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从零实现 + 双重验证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0" y="205740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NumPyGCN：两层前向 + 手推反向（利用 Â 的对称性）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数值梯度检查 ✅ 全部参数 &lt; 1e-5</a:t>
            </a:r>
            <a:endParaRPr lang="en-US" sz="125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PyG 官方 GCNConv 对齐 ✅ 最大差 1.71e-08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023360"/>
            <a:ext cx="11155680" cy="178308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187952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为什么从零实现 GCN 特别值：传播算子 Â 就是“混在矩阵乘里的物理”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553712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手推 dL/dH = Âᵀ·(·) 会直观看到：梯度也沿边流动，与前向的信息流对称 —— 之后用 PyG 才能分清“图建错了”还是“训练没调好”。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对齐验证的意义：从零实现容易“自洽但不对”——把同一组权重灌进 PyG GCNConv 比对前向输出，1.71e-08 属 float32 精度级，数学逻辑一致。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时空架构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ST-GCN：空间混合 × 时间演化，一次输出全网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416380"/>
          </a:solidFill>
          <a:ln w="9525">
            <a:solidFill>
              <a:srgbClr val="416380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全网窗口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(30 天, 12 点, 4 特征)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4425C"/>
          </a:solidFill>
          <a:ln w="9525">
            <a:solidFill>
              <a:srgbClr val="24425C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空间：GCN×2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每个时间步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Â·H·W 聚合邻居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8932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63640" y="160020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4425C"/>
          </a:solidFill>
          <a:ln w="9525">
            <a:solidFill>
              <a:srgbClr val="24425C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时间：GRU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5508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每个节点一条序列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最后时刻隐状态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69680" y="2148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160020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0E7490"/>
          </a:solidFill>
          <a:ln w="9525">
            <a:solidFill>
              <a:srgbClr val="0E7490"/>
            </a:solidFill>
            <a:prstDash val="solid"/>
          </a:ln>
          <a:effectLst>
            <a:outerShdw sx="100000" sy="100000" kx="0" ky="0" algn="bl" rotWithShape="0" blurRad="88900" dist="25400" dir="3600000">
              <a:srgbClr val="1C2B3A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节点回归头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0" y="2194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Linear→ReLU→Linear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E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(12 点, 1)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544068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" y="3721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conv_type = gcn  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§9.1 消融基准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均匀聚合（默认）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3611880"/>
            <a:ext cx="544068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37216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conv_type = gat  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§9.2 对比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19088" y="4069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注意力聚合：让模型学“该听谁的”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4782312"/>
            <a:ext cx="544068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conv_type = id  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§9.1 消融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" y="5239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不聚合 = 无图基线（各点独立 GRU）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17920" y="4782312"/>
            <a:ext cx="5440680" cy="987552"/>
          </a:xfrm>
          <a:prstGeom prst="roundRect">
            <a:avLst>
              <a:gd name="adj" fmla="val 555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4892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use_rnn = false  </a:t>
            </a:r>
            <a:pPr indent="0" marL="0">
              <a:buNone/>
            </a:pPr>
            <a:r>
              <a:rPr lang="en-US" sz="11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§9.1 消融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19088" y="5239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去掉时间记忆 = GCN-only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59436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所有开关都是为 §9 消融实验准备的：图和时序各贡献多少，拆开验证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精度检验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全网口径 + 逐节点口径：平均好 ≠ 每点都好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0.3346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RMSE (mm/day)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64992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0.805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64992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test R² / NSE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7064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13.98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27064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累积重构 RMSE (mm)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9136" y="1463040"/>
            <a:ext cx="2606040" cy="1417320"/>
          </a:xfrm>
          <a:prstGeom prst="roundRect">
            <a:avLst>
              <a:gd name="adj" fmla="val 3871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1627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11.59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089136" y="21945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 30 步误差 (mm)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246120"/>
            <a:ext cx="11155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训练即“12 倍数据”：全网所有测点联合优化，共享参数，早停于 epoch 64（val 0.2401）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逐节点指标表按 RMSE 降序：找出“预测得最差”的关键测点 —— 往往是易损性高、量级大的坡脚点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空间误差图：节点颜色 = 该测点 RMSE，直接服务风险评价（哪些区域预测不可靠）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递归多步：预测速率回填输入通道，45 天滚动，误差随步长近线性增长</a:t>
            </a:r>
            <a:endParaRPr lang="en-US" sz="1400" dirty="0"/>
          </a:p>
          <a:p>
            <a:pPr marL="152400" indent="-1524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审稿提醒：累积口径 R²≈1.000 有量级“稀释”效应（位移基数大），不能单独作为精度证据，须与速率口径同报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随机搜索 10 组：图模型特有的两个超参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400800" cy="4023360"/>
          </a:xfrm>
          <a:prstGeom prst="roundRect">
            <a:avLst>
              <a:gd name="adj" fmla="val 136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最优配置（val RMSE 0.3649）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hidden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21488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gcn_layers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rnn_layers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dropout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28803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lr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3e-4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1828800" cy="594360"/>
          </a:xfrm>
          <a:prstGeom prst="roundRect">
            <a:avLst>
              <a:gd name="adj" fmla="val 9231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8803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48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batch </a:t>
            </a:r>
            <a:pPr algn="ctr" indent="0" marL="0">
              <a:buNone/>
            </a:pPr>
            <a:r>
              <a:rPr lang="en-US" sz="1350" b="1" dirty="0">
                <a:solidFill>
                  <a:srgbClr val="2442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9476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gcn_layers=1 赢：N=12 的小网，1 跳邻居已够，2 层反而过平滑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rnn_layers=2 + 小 lr：时间记忆比空间混合更吃容量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搜索空间：hidden / gcn_layers / rnn_layers / dropout / lr / batch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1463040"/>
            <a:ext cx="4480560" cy="4023360"/>
          </a:xfrm>
          <a:prstGeom prst="roundRect">
            <a:avLst>
              <a:gd name="adj" fmla="val 136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16459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图模型特有超参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205740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KNN_K（建图近邻数）：过小图断裂、过大过度平滑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建议结合测点间距与影响范围设定，或作为超参搜索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GCN 层数 = 感受野跳数：N&lt;50 时 1~2 层足够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层数多会过平滑，所有测点趋于同值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其余清单与 ① §8.1 一致：lr / hidden / dropout / batch / seq_len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消融实验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图的真正价值，在“缺测”时才显现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554480"/>
          <a:ext cx="58521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663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情景：某测点速率通道缺测（传感器故障/传输中断，以训练均值填充）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75120" y="1554480"/>
            <a:ext cx="4983480" cy="3931920"/>
          </a:xfrm>
          <a:prstGeom prst="roundRect">
            <a:avLst>
              <a:gd name="adj" fmla="val 1395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03720" y="1737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两层结论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903720" y="2103120"/>
            <a:ext cx="4526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信息充分时（全测点历史完整）：GRU-only 0.3237 ≈ ST-GCN 0.3319 —— 共享权重的逐点模型已接近信息充分，图增益有限（GCN-only 0.3456 最差：时间记忆更基础）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欠观测时（监测网常态）：图模型靠邻居聚合把缺口补上 —— 平均退化 7.5% vs 99.8%</a:t>
            </a:r>
            <a:endParaRPr lang="en-US" sz="1300" dirty="0"/>
          </a:p>
          <a:p>
            <a:pPr marL="152400" indent="-1524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这一条是论文里论证“为什么要建图”的决定性实验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GAT 注意力 · 图平滑物理正则 · MC Dropout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GAT 注意力聚合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618488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为每条边学注意力系数 α_ij：坡脚受扰动的邻居应比稳定区邻居权重更高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006840" y="1618488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ST-GAT test RMSE 0.3275（优于调参后 ST-GCN 的 0.3319）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953512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81528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图平滑物理正则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30632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变形场空间连续先验：相邻测点速率不应突变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Dirichlet 能量作为软约束，λ 验证集选择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06840" y="306324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λ*=0：先验与数据一致；累积口径 RMSE 10.30mm（全表最优）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398264"/>
            <a:ext cx="11155680" cy="1280160"/>
          </a:xfrm>
          <a:prstGeom prst="roundRect">
            <a:avLst>
              <a:gd name="adj" fmla="val 4286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52628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MC Dropout 区间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450799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保持 Dropout 采样 50 次 → 全网 95% 区间；逐测点区间宽度可做空间分布图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006840" y="4507992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163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PICP = 0.462 → 过自信；升级路线 Conformal / 分位数（算法⑤）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87044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① 的物理软约束同一模板：把“物理上不该发生的事”变成损失项 —— 全系列通用的融合范式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落地指南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607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接入真实数据 Checklist 与常见坑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EEF2F6"/>
          </a:solidFill>
          <a:ln w="9525">
            <a:solidFill>
              <a:srgbClr val="EEF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42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Checklist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5623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  监测长表 + 测点坐标表放入 GCN/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  改配置区 DATA_PATH / EXOG_COLS / TARGET_COL，逐测点差分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  建图优先物理关系（同断面/地质单元），没有再用 KNN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  N&lt;8 图收益有限回退 ①；N&gt;50 用 1~2 层防过平滑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5.  先基线 → §9.1 消融 + 缺测情景论证图的价值（审稿人必问）→ 调参 → GAT/物理正则</a:t>
            </a:r>
            <a:endParaRPr lang="en-US" sz="12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6.  风险评估：§9.4 逐测点区间 → 不确定性空间分布图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12280" y="14630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E3EAF1"/>
          </a:solidFill>
          <a:ln w="9525">
            <a:solidFill>
              <a:srgbClr val="E3EA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0" y="164592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常见坑速查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40880" y="2057400"/>
            <a:ext cx="4434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无向图忘了对称化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A+I 忘加自环（节点丢失自身特征）❌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层数堆太深 → 过平滑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全量数据 fit scaler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直接预测累积位移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随机划分样本 ❌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4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全网平均指标掩盖薄弱测点 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5440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缺测情景实验模板可直接迁移到任何监测网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617220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数据来源：02_GCN_多点监测网时空预测_实现与调参.ipynb（dl-env 实测输出）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DL-Geo · 数据-物理融合驱动的岩土工程风险评估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42832" y="6473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4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算法介绍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4072" y="283464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A3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小结与衔接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589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交付：KNN 建图 + NumPy 从零 GCN（对齐 PyG）+ ST-GCN/ST-GAT + 消融与缺测实验 + 物理正则 + 全网区间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基线 test RMSE 0.3346 mm/day（R²=0.805），全网联合训练 = 12 倍样本红利</a:t>
            </a:r>
            <a:endParaRPr lang="en-US" sz="1500" dirty="0"/>
          </a:p>
          <a:p>
            <a:pPr marL="152400" indent="-1524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EE6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核心实证：信息充分时图增益有限；缺测时图退化 7.5% vs 无图 99.8% —— 图的价值在欠观测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与系列其他算法的衔接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89204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CNN+Transformer：把 ST-GCN 里的 GRU 换成注意力，时间维度升级（ST-Transformer 是自然延伸）。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⑤ 分位数/Conformal：把 MC Dropout 的过自信区间换成覆盖有保障的风险区间。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4C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⑥ 图 PINN：把渗流/固结 PDE 残差写到图上，物理正则从“平滑先验”升级为“方程约束”。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② GCN 多点监测网时空预测</dc:title>
  <dc:subject>PptxGenJS Presentation</dc:subject>
  <dc:creator>DL-Geo</dc:creator>
  <cp:lastModifiedBy>DL-Geo</cp:lastModifiedBy>
  <cp:revision>1</cp:revision>
  <dcterms:created xsi:type="dcterms:W3CDTF">2026-09-06T08:01:18Z</dcterms:created>
  <dcterms:modified xsi:type="dcterms:W3CDTF">2026-09-06T08:01:18Z</dcterms:modified>
</cp:coreProperties>
</file>