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416380"/>
            </a:solidFill>
            <a:ln w="31750" cap="flat">
              <a:solidFill>
                <a:srgbClr val="416380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16380"/>
              </a:solidFill>
              <a:ln w="9525" cap="flat">
                <a:solidFill>
                  <a:srgbClr val="4163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30</c:v>
                  </c:pt>
                  <c:pt idx="1">
                    <c:v>60</c:v>
                  </c:pt>
                  <c:pt idx="2">
                    <c:v>90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0.2828</c:v>
                </c:pt>
                <c:pt idx="1">
                  <c:v>0.2791</c:v>
                </c:pt>
                <c:pt idx="2">
                  <c:v>0.2824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6D28D9"/>
            </a:solidFill>
            <a:ln w="31750" cap="flat">
              <a:solidFill>
                <a:srgbClr val="6D28D9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30</c:v>
                  </c:pt>
                  <c:pt idx="1">
                    <c:v>60</c:v>
                  </c:pt>
                  <c:pt idx="2">
                    <c:v>90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0.2624</c:v>
                </c:pt>
                <c:pt idx="1">
                  <c:v>0.2632</c:v>
                </c:pt>
                <c:pt idx="2">
                  <c:v>0.2631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 (mm/day)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442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63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CNN-Transformer(完整)</c:v>
                  </c:pt>
                  <c:pt idx="1">
                    <c:v>CNN-only(无注意力)</c:v>
                  </c:pt>
                  <c:pt idx="2">
                    <c:v>Transformer-only(无CNN)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0.2632</c:v>
                </c:pt>
                <c:pt idx="1">
                  <c:v>0.2639</c:v>
                </c:pt>
                <c:pt idx="2">
                  <c:v>0.2941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.25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731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 · 算法系列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 + Transformer 单点位移预测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 前置提局部模式 · Transformer 抓长依赖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防泄漏流水线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训练段 fit · 按目标时刻划分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808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35808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 前向反向 + 梯度检查 + 官方对齐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31536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31536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两级口径评估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31536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 mm/day + 累积重构 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7264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27264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调参与改进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27264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· 消融 · 物理融合 · 不确定性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 Notebook 与全部结果均为 dl-env 内核实测输出，可直接复现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算法系列 · 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 前置提局部模式，Transformer 抓长依赖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7432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 = 局部模式扫描仪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卷积核只看相邻几天：周期波动、短期趋势、事件响应形态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权值共享 + 局部感受野 → 参数少、归纳偏置强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小样本下比注意力更稳，是“兜底”的特征提取器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7432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 = 全局观察者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任意两个时间步直接相连：信息路径 O(1)（RNN 是 O(T)）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建模“事件在几十步后的延迟影响”这类长距离依赖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整窗并行计算，训练快；注意力矩阵可解释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44348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LSTM 的两个结构痛点：信息逐步传递、窗口加长梯度路径变长、无法并行 —— 本篇一次解决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029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流水线：</a:t>
            </a:r>
            <a:pPr indent="0" marL="0">
              <a:buNone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原始序列 → (CNN 前置) 含局部模式的特征图 → (+ 位置编码) → Transformer 编码器 → 最后时刻表示 → 未来速率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数据与口径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① 同一数据、同一口径：只换架构，公平对比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114800"/>
          </a:xfrm>
          <a:prstGeom prst="roundRect">
            <a:avLst>
              <a:gd name="adj" fmla="val 1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完全一致的工程标准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同一份合成机制（蠕变 + τ=12 天有效降雨 + 骤降 + 噪声，2190 天）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同一套防泄漏流水线：训练段 fit scaler、按目标时刻 70/15/15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同一目标：位移速率（mm/day），累积重构口径评估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同一训练四件套：AdamW + 早停回滚 + LR 调度 + 梯度裁剪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8920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三本 Notebook 的结果可以横向比较：架构差异不被工程差异污染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12280" y="1463040"/>
            <a:ext cx="4846320" cy="4114800"/>
          </a:xfrm>
          <a:prstGeom prst="roundRect">
            <a:avLst>
              <a:gd name="adj" fmla="val 1333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本篇特有：SEQ_LEN = 60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0574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用 30 天：RNN 窗口越长梯度路径越长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本篇用 60 天：注意力任意两步直连，加长窗口没有结构代价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为“长依赖”留出发挥空间（§8.3 用 30/60/90 做敏感性）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HORIZON=1，多步预测走递归回填（§7）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输入特征：降雨 / 库水位 / 温度 / 位移速率（自回归）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组件原理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因果卷积：CNN 核就是一个“可学习的响应核”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92240" cy="2377440"/>
          </a:xfrm>
          <a:prstGeom prst="roundRect">
            <a:avLst>
              <a:gd name="adj" fmla="val 2308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因果一维卷积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out(t) = Σ_j w(j)·x(t−K+1+j) + 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只在左侧补 K−1 个零：t 时刻只依赖 ≤t 的输入（时间不倒流）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权值共享：同一核扫全序列，参数量与序列长度无关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膨胀卷积 d：隔 d 天采样；堆两层 RF = 1+4+8 = 13 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463040"/>
            <a:ext cx="438912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627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岩土含义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0" y="2011680"/>
            <a:ext cx="3977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第一层作用在降雨通道上的卷积核 = “过去 K 天降雨对当前速率的响应系数”。若它学成非负、滞后衰减形态，正好对应降雨入渗的渗流滞后（τ≈12 天）—— §9.3 据此设计物理软约束。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11155680" cy="1600200"/>
          </a:xfrm>
          <a:prstGeom prst="roundRect">
            <a:avLst>
              <a:gd name="adj" fmla="val 342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79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CNN 前置而不是后置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645152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原始特征噪声大、局部结构强 → 先用 CNN 把局部模式压进特征，注意力在更“干净”的特征上找长依赖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 参数少、归纳偏置强，在小样本时充当正则器 —— 这是“前置”相对“后置融合”的核心优势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组件原理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自注意力：一张可读的“长依赖地图”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92240" cy="2377440"/>
          </a:xfrm>
          <a:prstGeom prst="roundRect">
            <a:avLst>
              <a:gd name="adj" fmla="val 2308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缩放点积注意力（Vaswani et al., 2017）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Attention(Q,K,V) = softmax( QKᵀ / √d_k ) · 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Q/K/V 由同一序列投影（自注意力）；softmax 行 = 各历史时刻的重要度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多头：并行多组低秩投影，一头看周期、一头看突变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代价：O(T²) 矩阵 + 顺序信息丢失 → 必须加位置编码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463040"/>
            <a:ext cx="438912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627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位置编码（正弦）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0" y="1993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PE(pos,2i)=sin(pos/10000^(2i/d)), cos 交替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0" y="239572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无需训练，每行是唯一的位置指纹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相邻位置编码相近 → 注意力可感知时间距离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加在 CNN 输出后、注意力前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11155680" cy="1600200"/>
          </a:xfrm>
          <a:prstGeom prst="roundRect">
            <a:avLst>
              <a:gd name="adj" fmla="val 342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79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长依赖的直观对照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645152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RNN：暴雨(第 1 天) → 影响(第 30 天)，信号要走 30 步，梯度路径同样 30 步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Attention：两步直连，注意力权重直接告诉你“看了第 1 天多少” —— 延迟影响变成可读、可画、可核查的证据（§9.2）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 手写两个组件：四个验证全绿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NumPyCausalConv1d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20440" y="1618488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滑窗矩阵 (K,T) 前向；反向 dw=cols·dout，dx=convolve(dout,w)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83880" y="1618488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梯度检查 ✅（w 与 x）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F.conv1d 对齐 ✅ 差 0.0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81528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9544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NumPySelfAttention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0440" y="3191256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softmax 前向（平移不变数值稳定）；反向用雅可比 dS=A∘(dA−行和(A∘dA))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83880" y="3191256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梯度检查 ✅（Wq/Wk/Wv）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与官方 sdpa 对齐 ✅ 差 2.2e-16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377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最难的片段是 softmax 雅可比：</a:t>
            </a:r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∂A_ij/∂S_ik = A_ij(δ_jk − A_ik)，与上游 dA 收缩得 dS_ij = A_ij(dA_ij − Σ_k A_ik·dA_ik)。用线性探针 L=⟨dO,O⟩ 做数值检查。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五段流水线：每一段都有明确的分工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057400" cy="1783080"/>
          </a:xfrm>
          <a:prstGeom prst="roundRect">
            <a:avLst>
              <a:gd name="adj" fmla="val 3077"/>
            </a:avLst>
          </a:prstGeom>
          <a:solidFill>
            <a:srgbClr val="416380"/>
          </a:solidFill>
          <a:ln w="9525">
            <a:solidFill>
              <a:srgbClr val="416380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190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输入窗口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6072" y="208483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(60 天, 4 特征)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14600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07208" y="1554480"/>
            <a:ext cx="2057400" cy="1783080"/>
          </a:xfrm>
          <a:prstGeom prst="roundRect">
            <a:avLst>
              <a:gd name="adj" fmla="val 3077"/>
            </a:avLst>
          </a:prstGeom>
          <a:solidFill>
            <a:srgbClr val="24425C"/>
          </a:solidFill>
          <a:ln w="9525">
            <a:solidFill>
              <a:srgbClr val="24425C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7208" y="17190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 CNN 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80360" y="208483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层 × 48 通道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K=5, d=(1,2)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RF = 13 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18888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11496" y="1554480"/>
            <a:ext cx="2057400" cy="1783080"/>
          </a:xfrm>
          <a:prstGeom prst="roundRect">
            <a:avLst>
              <a:gd name="adj" fmla="val 3077"/>
            </a:avLst>
          </a:prstGeom>
          <a:solidFill>
            <a:srgbClr val="24425C"/>
          </a:solidFill>
          <a:ln w="9525">
            <a:solidFill>
              <a:srgbClr val="24425C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11496" y="17190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投影 + 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84648" y="208483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Linear→d_model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正弦位置编码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23176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15784" y="1554480"/>
            <a:ext cx="2057400" cy="1783080"/>
          </a:xfrm>
          <a:prstGeom prst="roundRect">
            <a:avLst>
              <a:gd name="adj" fmla="val 3077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15784" y="17190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 ×L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88936" y="208483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pre-LN 自注意力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FFN(GELU)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27464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720072" y="1554480"/>
            <a:ext cx="2057400" cy="1783080"/>
          </a:xfrm>
          <a:prstGeom prst="roundRect">
            <a:avLst>
              <a:gd name="adj" fmla="val 3077"/>
            </a:avLst>
          </a:prstGeom>
          <a:solidFill>
            <a:srgbClr val="24425C"/>
          </a:solidFill>
          <a:ln w="9525">
            <a:solidFill>
              <a:srgbClr val="24425C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0072" y="17190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793224" y="208483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 h(T) → MLP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输出速率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pre-LN 而非 post-LN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4088" y="4087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先归一化再子层：小数据、无 warmup 下稳定得多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7033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取最后时刻 h(T)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19088" y="4087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因果卷积保证只汇总 ≤t 信息，与递归部署一致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76402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855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开关化设计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04088" y="5148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use_cnn / use_attn 可关 → §9.1 消融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76402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4855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19088" y="5148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基线约 11.8 万参数，CPU 数十秒可复现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自定义 TransformerBlock（基于 nn.MultiheadAttention）：注意力权重可取出，供 §9.2 可视化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精度检验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两级口径：单步精度与累积应用都站得住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0.2632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RMSE (mm/day)·调参后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0.711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64992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R² / NSE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10.42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RMSE (mm)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0.990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89136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11155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① 同口径对比：LSTM 调参后 0.2570 vs 本篇 0.2632 —— 单步精度相当；结构优势体现在别处（下两页）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R²=0.990，优于 ① 基线的 0.982：多步误差累积更慢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 45 天滚动预测：误差随步长近线性增长（无递归结构爆炸）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检验面板：速率过程线 + 累积重构 + 残差直方图 + 多起点 RMSE 曲线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+ 窗口敏感性：长上下文是 Transformer 的主场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54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SEQ_LEN 敏感性（天）：加长窗口只增大注意力矩阵，不拉长信号路径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75120" y="1554480"/>
            <a:ext cx="4983480" cy="3931920"/>
          </a:xfrm>
          <a:prstGeom prst="roundRect">
            <a:avLst>
              <a:gd name="adj" fmla="val 139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737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最优配置（val RMSE 0.2791）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03720" y="2194560"/>
            <a:ext cx="1444752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21945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d_model </a:t>
            </a:r>
            <a:pPr algn="ctr"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76488" y="2194560"/>
            <a:ext cx="1444752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21945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nhead </a:t>
            </a:r>
            <a:pPr algn="ctr"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49256" y="2194560"/>
            <a:ext cx="1444752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49256" y="21945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layers </a:t>
            </a:r>
            <a:pPr algn="ctr"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03720" y="2880360"/>
            <a:ext cx="1444752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28803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kernel </a:t>
            </a:r>
            <a:pPr algn="ctr"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76488" y="2880360"/>
            <a:ext cx="1444752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76488" y="28803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dropout </a:t>
            </a:r>
            <a:pPr algn="ctr"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49256" y="2880360"/>
            <a:ext cx="1444752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49256" y="28803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lr </a:t>
            </a:r>
            <a:pPr algn="ctr"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3e-4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03720" y="365760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容量三件套宁小勿大：2119 个训练窗口撑不起大模型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nhead 必须整除 d_model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SEQ_LEN 读法：60 天内已覆盖有效信息；若物理记忆更长（跨雨季水文记忆）应加长并重训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消融实验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 前置与注意力各贡献了多少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63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同一最优配置，只关开关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0" y="1554480"/>
            <a:ext cx="4800600" cy="3931920"/>
          </a:xfrm>
          <a:prstGeom prst="roundRect">
            <a:avLst>
              <a:gd name="adj" fmla="val 139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怎么读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86600" y="210312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本数据局部模式主导：CNN-only 已接近完整模型 —— 日尺度 + 一阶雨响应，CNN 的归纳偏置即可覆盖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去掉 CNN 掉得最狠（0.2941）：注意力能学局部模式，但小样本下又慢又费参数 —— CNN 前置的收益是样本效率与稳定性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另两点不体现在单步 RMSE：并行训练速度、长窗口可扩展性（§8.3）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注意力可视化 · 响应核物理先验 · MC Dropout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注意力可视化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91840" y="16184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最后时刻 query 的注意力按滞后展开，与渗流滞后核 e^(−k/τ) 叠加对照；热图 + 滞后曲线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161848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峰值滞后 ~30 天、分布分散 —— 是证据不是因果归因，解读需谨慎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953512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8152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卷积核物理先验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91840" y="30632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 加宽到 15(≈2τ) 才能装下衰减形状：L = MSE + λ[1−cos(k_rain, k_exp) + 非负罚]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0" y="3063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λ*=0：无正则核已部分呈衰减形态（最一致通道 cos=0.58）—— 核可直接读出响应形状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398264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Dropout 区间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91840" y="45079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 50 次 → 95% 区间；区间宽度分布 + PICP 检查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0" y="4507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PICP = 0.512 → 过自信；升级路线 Conformal / 分位数（算法⑤）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核正则与 ② 的图平滑同一模板：把物理先验写成损失项，λ 扫描就是数据-物理权衡的显式表达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落地指南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接入真实数据 Checklist 与常见坑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623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 单点长表 CSV 放入 CNN-Transformer/（多测点配合 ②）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 改 §2.2 配置区，位移类目标先差分出速率列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 SEQ_LEN 按物理记忆尺度选（跨雨季 → 90~180 天），§8.3 敏感性定窗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 样本 &lt;1k：保住 CNN 前置、减小 d_model/layers、加大 dropout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 先基线 → §9.1 消融论证 CNN 前置必要性（审稿人必问）→ §9.2 注意力-滞后对照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 §9.3 响应核先验：可直接读出渗流滞后 τ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  §9.4 区间 → 超越概率 → 风险矩阵（衔接算法⑤）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4630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常见坑速查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位置编码忘加（注意力对顺序无感）❌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nhead 不整除 d_model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小样本直接上大 Transformer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post-LN 无 warmup 训崩（用 pre-LN）❌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全量数据 fit scaler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直接预测累积位移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把注意力权重当因果证据 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每一条都对应 Notebook 中的讨论或实验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数据来源：03_CNN_Transformer_位移预测_实现与调参.ipynb（dl-env 实测输出）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算法介绍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83464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小结与衔接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交付：因果卷积 + 自注意力从零实现（4 项验证全绿）+ 可开关混合架构 + 消融/敏感性/物理正则/区间全套实验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调参后 test RMSE 0.2632 mm/day，累积重构 RMSE 10.42 mm（R²=0.990），递归 45 天误差线性增长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核心实证：小样本下 CNN 前置是注意力的“稳定器”（去掉 CNN 掉 12%）；SEQ_LEN 加长无结构代价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与系列其他算法的衔接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GCN：时间模块可换成注意力 → ST-Transformer（Transformer 管时间 + GCN 管空间）。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PINN：把响应核的 τ 参数化并反演，物理先验从“形状约束”升级为“参数反演”。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⑧ 时序基础模型：Chronos/TimesFM zero-shot 与本篇监督式对比。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③ CNN + Transformer 单点位移预测</dc:title>
  <dc:subject>PptxGenJS Presentation</dc:subject>
  <dc:creator>DL-Geo</dc:creator>
  <cp:lastModifiedBy>DL-Geo</cp:lastModifiedBy>
  <cp:revision>1</cp:revision>
  <dcterms:created xsi:type="dcterms:W3CDTF">2026-09-06T08:01:18Z</dcterms:created>
  <dcterms:modified xsi:type="dcterms:W3CDTF">2026-09-06T08:01:18Z</dcterms:modified>
</cp:coreProperties>
</file>